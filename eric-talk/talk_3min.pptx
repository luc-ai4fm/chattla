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11" autoAdjust="0"/>
    <p:restoredTop sz="96405" autoAdjust="0"/>
  </p:normalViewPr>
  <p:slideViewPr>
    <p:cSldViewPr snapToGrid="0">
      <p:cViewPr varScale="1">
        <p:scale>
          <a:sx n="139" d="100"/>
          <a:sy n="139" d="100"/>
        </p:scale>
        <p:origin x="184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F2DE46-3A07-D2AD-37DA-FAA08AFCB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89C84-5BB0-6385-9B4B-7603B85230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42C6D21-931B-9744-860E-9BA3D9C4AC38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8/29/24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69EA9-FF37-ACA1-4150-97AD4791CE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0D455-901F-1381-66BF-B07FC711D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D91E981-3A1F-7D4B-A4BE-0A4284CE6FA5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93383C-A683-C919-3135-C447889E9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14F24-4132-1A75-D2A4-BD9D3BC1F1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C235E1-6E59-8947-BA8F-3DA54233A74F}" type="datetimeFigureOut">
              <a:rPr lang="en-US" smtClean="0"/>
              <a:pPr>
                <a:defRPr/>
              </a:pPr>
              <a:t>8/29/24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24D5AC-D38E-14BC-7574-CF774CDE4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3B1FF8-D042-E588-83AE-BCCA1A91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F5681-00E4-C10A-7A29-AD09AA89E9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9A684-1CA1-BA29-BD40-9D2F79E31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1EC1E3-F35F-334F-B16D-E9127AADAD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title-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B58DB7-87FA-5B4F-1FE5-4A2E2A2BFF02}"/>
              </a:ext>
            </a:extLst>
          </p:cNvPr>
          <p:cNvSpPr/>
          <p:nvPr userDrawn="1"/>
        </p:nvSpPr>
        <p:spPr>
          <a:xfrm>
            <a:off x="184639" y="164122"/>
            <a:ext cx="11822722" cy="6509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E42CB-9C8B-D2D7-6297-755D9A85782F}"/>
              </a:ext>
            </a:extLst>
          </p:cNvPr>
          <p:cNvSpPr/>
          <p:nvPr userDrawn="1"/>
        </p:nvSpPr>
        <p:spPr>
          <a:xfrm>
            <a:off x="9091098" y="164122"/>
            <a:ext cx="2916263" cy="164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745230-BBB5-2342-512A-04FF6B89A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672142"/>
            <a:ext cx="10287000" cy="747897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5400" b="1" i="0" kern="30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5EA388-638E-C444-7AA2-61960A633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708771"/>
            <a:ext cx="10287000" cy="2769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2000" b="0" i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11915F7-957F-C11D-B327-1AEC4E06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BF32650-26F4-CAD2-9616-B5971856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244784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5BB11A5-AF5C-351F-6CAB-0560A2053A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100" y="2094272"/>
            <a:ext cx="1030252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199664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title-image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E21E3E-9875-83EF-850D-12FD897E4252}"/>
              </a:ext>
            </a:extLst>
          </p:cNvPr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903119"/>
            <a:ext cx="3223260" cy="671512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F2B8105-D47B-FF3D-5A67-30E5B7095D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E1BAEAF-DCEB-1C35-8B74-5194D4A86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D4350CD-33FC-41B9-428F-36D65F0269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307573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-image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1" y="5903119"/>
            <a:ext cx="3223257" cy="67151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5B316826-AA89-6A97-C1E7-1066C75C0C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A72B546-5D7B-AB98-B805-06ACF436F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5606177-7C71-8CAD-993C-CCDEE15BE6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6181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lcome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39D35-ECD0-38E2-37B4-7CDD947BAA4E}"/>
              </a:ext>
            </a:extLst>
          </p:cNvPr>
          <p:cNvSpPr/>
          <p:nvPr/>
        </p:nvSpPr>
        <p:spPr>
          <a:xfrm rot="5400000">
            <a:off x="-1400175" y="1987550"/>
            <a:ext cx="6858000" cy="288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04014-9B8B-36BB-8856-23B5190C937D}"/>
              </a:ext>
            </a:extLst>
          </p:cNvPr>
          <p:cNvSpPr/>
          <p:nvPr/>
        </p:nvSpPr>
        <p:spPr>
          <a:xfrm rot="5400000">
            <a:off x="-1399381" y="2120106"/>
            <a:ext cx="6858000" cy="2617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D56E4E7-C040-D738-0AAC-D87638A714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2179" t="-6885" r="-22265" b="-6416"/>
          <a:stretch/>
        </p:blipFill>
        <p:spPr>
          <a:xfrm>
            <a:off x="720725" y="1128713"/>
            <a:ext cx="2617788" cy="264001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62035" y="1344552"/>
            <a:ext cx="7649779" cy="553998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sz="4000" b="1" i="0" kern="3000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greeting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859524" y="2264044"/>
            <a:ext cx="7543886" cy="3810962"/>
          </a:xfrm>
        </p:spPr>
        <p:txBody>
          <a:bodyPr lIns="0" tIns="0" rIns="0" bIns="0">
            <a:noAutofit/>
          </a:bodyPr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algn="r"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14948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section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D7B91-BBF5-DDE1-8D49-CD4BAD25F23F}"/>
              </a:ext>
            </a:extLst>
          </p:cNvPr>
          <p:cNvSpPr/>
          <p:nvPr/>
        </p:nvSpPr>
        <p:spPr>
          <a:xfrm>
            <a:off x="184150" y="163513"/>
            <a:ext cx="11823700" cy="6510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5C6D0-BD29-10E8-CDB5-786F5AAB6042}"/>
              </a:ext>
            </a:extLst>
          </p:cNvPr>
          <p:cNvSpPr/>
          <p:nvPr/>
        </p:nvSpPr>
        <p:spPr>
          <a:xfrm>
            <a:off x="9091613" y="163513"/>
            <a:ext cx="2916237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138E7-82BB-148B-F91E-EA78EA01B51F}"/>
              </a:ext>
            </a:extLst>
          </p:cNvPr>
          <p:cNvSpPr txBox="1">
            <a:spLocks/>
          </p:cNvSpPr>
          <p:nvPr/>
        </p:nvSpPr>
        <p:spPr>
          <a:xfrm>
            <a:off x="838200" y="6329363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81367" y="2870845"/>
            <a:ext cx="10622065" cy="655564"/>
          </a:xfr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i="0" kern="3000" cap="all" spc="-10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781367" y="3771127"/>
            <a:ext cx="10622065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329518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2082DD6-E3C4-38F0-4F44-562BC7AD0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367" y="2325470"/>
            <a:ext cx="10627269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423128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section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3DE06-D71F-7319-D4FA-A5C84780FB7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184639" y="164121"/>
            <a:ext cx="11822722" cy="650923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000" b="0" i="0">
                <a:solidFill>
                  <a:srgbClr val="FEBC1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781366" y="2325470"/>
            <a:ext cx="5629265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781366" y="2870844"/>
            <a:ext cx="5629265" cy="1154162"/>
          </a:xfrm>
        </p:spPr>
        <p:txBody>
          <a:bodyPr wrap="square"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opener</a:t>
            </a:r>
          </a:p>
        </p:txBody>
      </p:sp>
    </p:spTree>
    <p:extLst>
      <p:ext uri="{BB962C8B-B14F-4D97-AF65-F5344CB8AC3E}">
        <p14:creationId xmlns:p14="http://schemas.microsoft.com/office/powerpoint/2010/main" val="230549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chapter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7D108-30FE-4608-917C-A2189E98775C}"/>
              </a:ext>
            </a:extLst>
          </p:cNvPr>
          <p:cNvSpPr/>
          <p:nvPr/>
        </p:nvSpPr>
        <p:spPr>
          <a:xfrm>
            <a:off x="0" y="309563"/>
            <a:ext cx="12192000" cy="1631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F831F-307F-C202-FFCD-5C30E915E271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A86B1-AFEB-8D63-1534-0E8C40F4FDD0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CF328-491A-4194-7CB1-7300875E658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10565232" cy="3441569"/>
          </a:xfrm>
        </p:spPr>
        <p:txBody>
          <a:bodyPr lIns="0" tIns="0" rIns="0" bIns="0"/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4651"/>
            <a:ext cx="10565232" cy="1316038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cap="all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Chapter Opener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2F19C0E-C793-77A7-A4BA-DB10ACF9F2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427510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chapt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7234D0-B4FC-6892-1E28-3902C762CE07}"/>
              </a:ext>
            </a:extLst>
          </p:cNvPr>
          <p:cNvSpPr/>
          <p:nvPr/>
        </p:nvSpPr>
        <p:spPr>
          <a:xfrm>
            <a:off x="6096000" y="0"/>
            <a:ext cx="6096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93E3A5-CEDF-34BD-FB66-52F07987C896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2715A-6B63-0459-AAD4-5B3DA946A79A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7" name="Picture Placeholder 2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-1"/>
            <a:ext cx="6096000" cy="6857999"/>
          </a:xfrm>
        </p:spPr>
        <p:txBody>
          <a:bodyPr lIns="457200" tIns="457200" rIns="457200" rtlCol="0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543860" y="2325470"/>
            <a:ext cx="4871392" cy="2215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 b="1" i="0" cap="all" spc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543859" y="2857712"/>
            <a:ext cx="4881226" cy="997196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36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 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43860" y="4186922"/>
            <a:ext cx="4900888" cy="2492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2183A66-2B14-1B0C-F6D5-C028CDC5E1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68514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ext-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E1900-707A-ECF7-6B5E-1FFE61D590CF}"/>
              </a:ext>
            </a:extLst>
          </p:cNvPr>
          <p:cNvSpPr/>
          <p:nvPr/>
        </p:nvSpPr>
        <p:spPr>
          <a:xfrm>
            <a:off x="0" y="7951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F2791-535C-12E7-AE4C-A6C78E39BCD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0B3FA-DA98-9FA0-7229-EF907F4E36C7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200"/>
              </a:spcAft>
              <a:buNone/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832104" y="1819656"/>
            <a:ext cx="10565232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0383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text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583716-42AF-6FB1-C2B6-322F8159FE55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81127-B840-0BA6-4AF7-A86A8F3D973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C958-D887-005C-22BD-21EC2B48448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5026149" cy="3422715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355223" y="2667000"/>
            <a:ext cx="5059665" cy="342271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2594F53-8A19-991B-9D45-726C856C75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" y="2110213"/>
            <a:ext cx="5038857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527E0B5-3AC3-A815-441B-7B7889E191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0926788-DBA7-378E-2A18-2245CA0CC8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600" y="2110213"/>
            <a:ext cx="50474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4894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text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9E17C7-0ECC-7708-AFBD-1AC88ACA35A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0EFCC-D128-9768-B441-290FDD2658AA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C7CDC-218A-1692-4D20-6D0D358E4EF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03032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4520616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B150EA-B600-F09C-A205-1770DCFEE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2110213"/>
            <a:ext cx="32186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534ACA2-9CEC-6CDB-2AE5-2643BE04A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ADC2891-F687-A61F-FC46-FB44DF636D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9985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1383EBA-41EC-D0E9-D55E-AAFE300686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9038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735352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_displa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EB2D0-A9DF-0A52-7DD5-83E681ADBD65}"/>
              </a:ext>
            </a:extLst>
          </p:cNvPr>
          <p:cNvSpPr/>
          <p:nvPr/>
        </p:nvSpPr>
        <p:spPr>
          <a:xfrm>
            <a:off x="0" y="309563"/>
            <a:ext cx="6089650" cy="654843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702552" y="2632923"/>
            <a:ext cx="4700880" cy="3228473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23404"/>
            <a:ext cx="4229746" cy="4896395"/>
          </a:xfrm>
        </p:spPr>
        <p:txBody>
          <a:bodyPr anchor="ctr"/>
          <a:lstStyle>
            <a:lvl1pPr marL="0" indent="0">
              <a:spcAft>
                <a:spcPts val="1200"/>
              </a:spcAft>
              <a:buNone/>
              <a:defRPr sz="2800" b="1" i="0">
                <a:latin typeface="Arial" panose="020B0604020202020204" pitchFamily="34" charset="0"/>
              </a:defRPr>
            </a:lvl1pPr>
            <a:lvl2pPr marL="0" indent="0">
              <a:buNone/>
              <a:defRPr lang="en-US" sz="1400" b="0" i="0" kern="1200" cap="all" spc="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add readout or quote</a:t>
            </a:r>
          </a:p>
          <a:p>
            <a:pPr lvl="1"/>
            <a:r>
              <a:rPr lang="en-US" dirty="0"/>
              <a:t>—attribution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03065" y="2110213"/>
            <a:ext cx="471411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670826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_display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0ADADCA-CCAF-99B0-EEFF-053F8A6F1B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76015"/>
            <a:ext cx="5246914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CDF3B-78F7-71F0-DAE1-4EDA032F326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A14CC-AFEE-B0DB-C95D-42CF9821CCD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CCE00-7A5A-D0E3-7333-F7A98C142D1D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6362054" y="631595"/>
            <a:ext cx="5058931" cy="54204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object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5257800" cy="3407522"/>
          </a:xfrm>
        </p:spPr>
        <p:txBody>
          <a:bodyPr lIns="0" tIns="0" rIns="0" bIns="0"/>
          <a:lstStyle>
            <a:lvl1pPr>
              <a:spcAft>
                <a:spcPts val="200"/>
              </a:spcAft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2D576-D153-57D7-670B-00FA2FDA23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27185"/>
            <a:ext cx="526389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82584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c_display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046A04-66B3-B2E1-B4DB-55016C2F830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40FE0-26D5-4E51-1074-5DA2EDD1F463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91597-0FDF-8FCA-9FE3-568F01796F3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5"/>
          </p:nvPr>
        </p:nvSpPr>
        <p:spPr>
          <a:xfrm>
            <a:off x="831849" y="2654343"/>
            <a:ext cx="10571583" cy="3200400"/>
          </a:xfrm>
        </p:spPr>
        <p:txBody>
          <a:bodyPr rtlCol="0">
            <a:normAutofit/>
          </a:bodyPr>
          <a:lstStyle>
            <a:lvl1pPr marL="0" indent="0" algn="ctr">
              <a:buNone/>
              <a:defRPr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C51B03-5B9F-97D5-E8C9-300A3518E5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134F68F-850F-C061-0016-BEBC094E23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345708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d_display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091" y="2870376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category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F69CEE9-3660-0ED5-F37D-2CD0BC4AFA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561" y="3327095"/>
            <a:ext cx="3289747" cy="782198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6000" b="1" i="0" spc="-100" baseline="0">
                <a:latin typeface="Arial" panose="020B0604020202020204" pitchFamily="34" charset="0"/>
              </a:defRPr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26D500B-3CE2-126F-09CC-CC4601674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Display numbers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3706456-01B8-58CA-1643-C85751AD35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0561" y="4831814"/>
            <a:ext cx="3300764" cy="76475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 baseline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context, if needed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17FD5E6-C37B-DAAF-2F3C-F0542BAC86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091" y="4191000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description</a:t>
            </a:r>
          </a:p>
        </p:txBody>
      </p:sp>
    </p:spTree>
    <p:extLst>
      <p:ext uri="{BB962C8B-B14F-4D97-AF65-F5344CB8AC3E}">
        <p14:creationId xmlns:p14="http://schemas.microsoft.com/office/powerpoint/2010/main" val="3149113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a_emphasis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B890C3-DE06-2122-DB73-8789EDE6A929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7B106-B89A-030A-5015-EBC196C9972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71328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5BB3E5-692F-DBF8-1A96-E5BA96876D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5A9CF36-2408-77EA-D0E8-AA9C687D2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661084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b_emphasis-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D2B7F-0409-DCFE-7B21-7BAEA1E97943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46325-F276-6492-0559-FBD62768D9B7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FAD3D-FD95-9A7D-9FF3-9B7A8A97D051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306555-D7B9-2122-7043-882C1E0B3E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3CCBD1-264C-A481-4F7B-6EEEBD5A3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326647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4A61B4-E715-DB10-BF89-AC04C6F742A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784929" y="3657157"/>
            <a:ext cx="10576289" cy="27699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US" sz="2000" b="1" i="0" kern="1200" cap="none" spc="40" baseline="0" dirty="0" smtClean="0">
                <a:solidFill>
                  <a:srgbClr val="FEBC18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URL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2672142"/>
            <a:ext cx="10581577" cy="664797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lang="en-US" sz="4800" b="1" i="0" kern="12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closing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B7FABAC-CFAC-DAC8-01B0-48E721CCB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5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0E6A11-FCE7-FCE3-CDF0-83CF741440C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72468-BBB8-7328-00D0-B3C150587FA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58EE5-2E44-46CE-912D-E30C4283B40E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23395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65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FF9A9E-3035-346A-8BDC-F6ACD74A46F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53F3-23CA-6884-71A5-B8C2A9739A1F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4229100" cy="39211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i="0" kern="1200" spc="150" baseline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2463737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13A98B-7AE9-D161-3F26-588F63E2A0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39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6F7F4-450D-120C-C9B1-8C4266EC32B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C80E8-90B2-2298-C7F1-B184D49FC30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BA77-7A37-E4DB-4CCF-07AA9FA1B7C2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1817336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2022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77C33-B393-5DB6-B0F7-18619CEF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add text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7A9B819-8B67-123F-0011-331913CCF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add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4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44" r:id="rId15"/>
    <p:sldLayoutId id="2147483735" r:id="rId16"/>
    <p:sldLayoutId id="2147483736" r:id="rId17"/>
    <p:sldLayoutId id="2147483737" r:id="rId18"/>
    <p:sldLayoutId id="2147483738" r:id="rId19"/>
    <p:sldLayoutId id="2147483720" r:id="rId20"/>
    <p:sldLayoutId id="2147483739" r:id="rId21"/>
    <p:sldLayoutId id="2147483740" r:id="rId22"/>
    <p:sldLayoutId id="2147483741" r:id="rId23"/>
    <p:sldLayoutId id="2147483742" r:id="rId2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i="0" kern="3000" spc="-1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0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103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3000" b="1"/>
              <a:t>Teaching AI to Prove Software Is Bug-Free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The hardest lesson:  the AI will cheat unless you grade it honestly.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000"/>
              <a:t>Eric Spencer  |  AI for Formal Methods Lab  |  ai4fm.cs.luc.edu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100"/>
              <a:t>LOYOLA UNIVERSITY CHICAGO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/>
              <a:t>There is a fix: a mathematical language called TLA+ lets a computer prove a system is correct before it ships.</a:t>
            </a:r>
          </a:p>
          <a:p>
            <a:pPr>
              <a:spcAft>
                <a:spcPts val="800"/>
              </a:spcAft>
            </a:pPr>
            <a:r>
              <a:rPr sz="1600"/>
              <a:t>Amazon, Microsoft, and Intel use it to catch bugs that testing misses.</a:t>
            </a:r>
          </a:p>
          <a:p>
            <a:pPr>
              <a:spcAft>
                <a:spcPts val="800"/>
              </a:spcAft>
            </a:pPr>
            <a:r>
              <a:rPr sz="1600"/>
              <a:t>The catch: writing those proofs takes rare expertise. Most engineers cannot do it.</a:t>
            </a:r>
          </a:p>
          <a:p>
            <a:pPr>
              <a:spcAft>
                <a:spcPts val="800"/>
              </a:spcAft>
            </a:pPr>
            <a:r>
              <a:rPr sz="1600"/>
              <a:t>The idea: if AI could write the proof from plain English, every engineer could use 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Bugs in critical software cost lives and billions of dollars.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3000" b="1"/>
              <a:t>The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The grader was simple:  does the checker accept the proof?  Pass or fail.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The model learned to cheat.  It wrote proofs like "true is true" — empty statements the checker accepts but that prove nothing.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We call this the Vacuity Attractor.  In controlled tests, 97% of the AI's output converged on empty proofs.  Every seed.  Every time.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Lesson:  an honest-looking grade can still be a dishonest grade.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400"/>
              <a:t>We fine-tuned a language model using the proof checker as its grader.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3000" b="1"/>
              <a:t>What Happened When We Tried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A real proof catches deliberate sabotage.  An empty proof does not.  This is the Diamond reward.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Result:  success on a held-out benchmark more than doubled (from 4 out of 30 up to 9 out of 30).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The whole project ran on one workstation with two graphics cards — about the power of a hair dryer.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No supercomputer.  No data center.  Anyone can reproduce it.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Thank you.   ai4fm.cs.luc.edu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400"/>
              <a:t>Grade the proof by breaking the program and asking whether the proof notices.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3200" b="1"/>
              <a:t>The Fix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yola-theme">
  <a:themeElements>
    <a:clrScheme name="loyola brand-2024-mac">
      <a:dk1>
        <a:srgbClr val="000000"/>
      </a:dk1>
      <a:lt1>
        <a:srgbClr val="FFFFFF"/>
      </a:lt1>
      <a:dk2>
        <a:srgbClr val="545454"/>
      </a:dk2>
      <a:lt2>
        <a:srgbClr val="DEDBD0"/>
      </a:lt2>
      <a:accent1>
        <a:srgbClr val="5A0621"/>
      </a:accent1>
      <a:accent2>
        <a:srgbClr val="EAAA00"/>
      </a:accent2>
      <a:accent3>
        <a:srgbClr val="DEDBD0"/>
      </a:accent3>
      <a:accent4>
        <a:srgbClr val="545454"/>
      </a:accent4>
      <a:accent5>
        <a:srgbClr val="878787"/>
      </a:accent5>
      <a:accent6>
        <a:srgbClr val="DEDBD0"/>
      </a:accent6>
      <a:hlink>
        <a:srgbClr val="5A0621"/>
      </a:hlink>
      <a:folHlink>
        <a:srgbClr val="8D00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AC2CB350-B5DA-7649-8A93-9B9FA7C56D47}" vid="{6BA048FC-F4DD-3B42-AC04-527992BEF7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C4FE1DD57D1A4A91554BDAC326B21C" ma:contentTypeVersion="26" ma:contentTypeDescription="Create a new document." ma:contentTypeScope="" ma:versionID="e2aa9aa067825afe1b0b3f8e60e05e8a">
  <xsd:schema xmlns:xsd="http://www.w3.org/2001/XMLSchema" xmlns:xs="http://www.w3.org/2001/XMLSchema" xmlns:p="http://schemas.microsoft.com/office/2006/metadata/properties" xmlns:ns1="http://schemas.microsoft.com/sharepoint/v3" xmlns:ns2="ddfa6881-472b-4376-9060-4a0fa036b60d" xmlns:ns3="410b0493-6099-405b-af7c-4c4f4d34ca6f" targetNamespace="http://schemas.microsoft.com/office/2006/metadata/properties" ma:root="true" ma:fieldsID="aae8aafaf9884206bc79cf40ad899145" ns1:_="" ns2:_="" ns3:_="">
    <xsd:import namespace="http://schemas.microsoft.com/sharepoint/v3"/>
    <xsd:import namespace="ddfa6881-472b-4376-9060-4a0fa036b60d"/>
    <xsd:import namespace="410b0493-6099-405b-af7c-4c4f4d34ca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fa6881-472b-4376-9060-4a0fa036b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4ea81705-40ef-4f82-8f09-2686234d89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9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b0493-6099-405b-af7c-4c4f4d34ca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99853ba-3a19-4a3b-b546-b69e92f03ba6}" ma:internalName="TaxCatchAll" ma:showField="CatchAllData" ma:web="410b0493-6099-405b-af7c-4c4f4d34ca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dfa6881-472b-4376-9060-4a0fa036b60d" xsi:nil="true"/>
    <_ip_UnifiedCompliancePolicyUIAction xmlns="http://schemas.microsoft.com/sharepoint/v3" xsi:nil="true"/>
    <TaxCatchAll xmlns="410b0493-6099-405b-af7c-4c4f4d34ca6f" xsi:nil="true"/>
    <_ip_UnifiedCompliancePolicyProperties xmlns="http://schemas.microsoft.com/sharepoint/v3" xsi:nil="true"/>
    <lcf76f155ced4ddcb4097134ff3c332f xmlns="ddfa6881-472b-4376-9060-4a0fa036b60d">
      <Terms xmlns="http://schemas.microsoft.com/office/infopath/2007/PartnerControls"/>
    </lcf76f155ced4ddcb4097134ff3c332f>
    <Notes xmlns="ddfa6881-472b-4376-9060-4a0fa036b6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F1D89D-89AC-4931-8468-3853CF426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dfa6881-472b-4376-9060-4a0fa036b60d"/>
    <ds:schemaRef ds:uri="410b0493-6099-405b-af7c-4c4f4d34c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5FA7AE-6CDB-4486-AA56-76A6D2038F77}">
  <ds:schemaRefs>
    <ds:schemaRef ds:uri="http://schemas.microsoft.com/office/2006/metadata/properties"/>
    <ds:schemaRef ds:uri="http://schemas.microsoft.com/office/infopath/2007/PartnerControls"/>
    <ds:schemaRef ds:uri="ddfa6881-472b-4376-9060-4a0fa036b60d"/>
    <ds:schemaRef ds:uri="http://schemas.microsoft.com/sharepoint/v3"/>
    <ds:schemaRef ds:uri="410b0493-6099-405b-af7c-4c4f4d34ca6f"/>
  </ds:schemaRefs>
</ds:datastoreItem>
</file>

<file path=customXml/itemProps3.xml><?xml version="1.0" encoding="utf-8"?>
<ds:datastoreItem xmlns:ds="http://schemas.openxmlformats.org/officeDocument/2006/customXml" ds:itemID="{9DC69A40-ACB8-46DC-A3E2-239C77D95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134</Words>
  <Application>Microsoft Macintosh PowerPoint</Application>
  <PresentationFormat>Widescreen</PresentationFormat>
  <Paragraphs>26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AntennaCond Light</vt:lpstr>
      <vt:lpstr>Arial</vt:lpstr>
      <vt:lpstr>Georgia</vt:lpstr>
      <vt:lpstr>loyola-theme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Yee, Ted</dc:creator>
  <cp:lastModifiedBy>Yee, Ted</cp:lastModifiedBy>
  <cp:revision>16</cp:revision>
  <cp:lastPrinted>2023-08-15T16:34:03Z</cp:lastPrinted>
  <dcterms:created xsi:type="dcterms:W3CDTF">2024-06-21T17:36:16Z</dcterms:created>
  <dcterms:modified xsi:type="dcterms:W3CDTF">2024-08-29T19:07:19Z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0x010100EDC4FE1DD57D1A4A91554BDAC326B21C</vt:lpwstr>
  </property>
  <property fmtid="{D5CDD505-2E9C-101B-9397-08002B2CF9AE}" pid="3" name="MediaServiceImageTags">
    <vt:lpwstr/>
  </property>
</Properties>
</file>